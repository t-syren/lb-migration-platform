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SYRENBRIDGE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99"/>
                </a:solidFill>
                <a:latin typeface="Calibri"/>
              </a:rPr>
              <a:t>by Syren Cloud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9144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463040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Accelerate Your Migration
to Databricks.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1097280" cy="64008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SyrenBridge automates the conversion of legacy data platforms —
SQL, ETL, reports, and workflows — to Databricks in days, not months.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4805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553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3621"/>
                </a:solidFill>
                <a:latin typeface="Calibri"/>
              </a:rP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Source Technologies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44805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4553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6366F1"/>
                </a:solidFill>
                <a:latin typeface="Calibr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Transpiler Dialects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480560"/>
            <a:ext cx="2651760" cy="12801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455371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6B6D4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074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Cloud-Native Deployment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190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Enterprise Migration Platform  ·  Powered by Databricks Labs Lakebridge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Migration Challenge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548640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1887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Legacy ETL is Expensive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Maintaining SSIS, Informatica, DataStage, and Oozie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pipelines costs 3-5x more than modern Spark-native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License costs alone can exceed platform migration costs.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188720"/>
            <a:ext cx="548640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25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Manual Migration Takes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Typical enterprise DW-to-cloud migration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span 18-36 months — mostly hand-rewriting SQL and ETL.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Skill shortages in legacy technologies slow every project.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66160"/>
            <a:ext cx="548640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56616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Reports &amp; Workflows Left Behind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SSRS reports and Oozie workflows are often missed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in migration scopes, creating shadow BI 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unsupported orchestration running on old infrastructure.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566160"/>
            <a:ext cx="5486400" cy="210312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566160"/>
            <a:ext cx="109728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033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Risk of Getting It Wrong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Untested conversions break production pipelines.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89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Data quality regressions discovered weeks after cutover.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709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automated way to validate output correctness.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SyrenBridge — The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1F5F9"/>
                </a:solidFill>
                <a:latin typeface="Calibri"/>
              </a:rPr>
              <a:t>SyrenBridge is an enterprise migration platform built on Databricks Apps that automates assessment, conversion, and validation of legacy data assets — deployed in your Databricks workspace, no additional infrastructure.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Analyze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77440"/>
            <a:ext cx="2651760" cy="1234440"/>
          </a:xfrm>
          <a:prstGeom prst="rect">
            <a:avLst/>
          </a:prstGeom>
          <a:solidFill>
            <a:srgbClr val="1E293B"/>
          </a:solidFill>
          <a:ln w="762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45059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Complexity scoring for 36 source technologies in minutes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Transpile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377440"/>
            <a:ext cx="2651760" cy="1234440"/>
          </a:xfrm>
          <a:prstGeom prst="rect">
            <a:avLst/>
          </a:prstGeom>
          <a:solidFill>
            <a:srgbClr val="1E293B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245059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Automated code conversion across 13 dialects to PySpark / SparkSQL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Validate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377440"/>
            <a:ext cx="2651760" cy="1234440"/>
          </a:xfrm>
          <a:prstGeom prst="rect">
            <a:avLst/>
          </a:prstGeom>
          <a:solidFill>
            <a:srgbClr val="1E293B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45059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Built-in SQL validator with dummy data generation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920240"/>
            <a:ext cx="265176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2377440"/>
            <a:ext cx="2651760" cy="1234440"/>
          </a:xfrm>
          <a:prstGeom prst="rect">
            <a:avLst/>
          </a:prstGeom>
          <a:solidFill>
            <a:srgbClr val="1E293B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6568" y="245059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One-click upload of converted artifacts to Databricks 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3621"/>
                </a:solidFill>
                <a:latin typeface="Calibri"/>
              </a:rPr>
              <a:t>How it works: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1  Upload source files or connect to Databricks workspace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44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2  Run Analyzer — get complexity report and migration readiness 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92861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3  Select dialect in Transpiler — run automated conversion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126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4  Review output, download ZIP or push directly to workspace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967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1F5F9"/>
                </a:solidFill>
                <a:latin typeface="Calibri"/>
              </a:rPr>
              <a:t>5  Deploy converted notebooks and workflows to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Analyzer — 36 Source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ANALYZER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Instantly assess migration complexity across your entire data estate.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54480"/>
            <a:ext cx="3749039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55448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SQL Databases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993392"/>
            <a:ext cx="3749039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0848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Athena · BigQuery · Cloudera (Impala) · Greenplum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42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Hive · IBM DB2 · MS SQL Server · Netezza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99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Oracle · Presto · Redshift · SAP HANA CalcViews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56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Snowflake · Synapse · Teradata · Vertica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554480"/>
            <a:ext cx="3749039" cy="43891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55448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ETL &amp; Orchestration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993392"/>
            <a:ext cx="3749039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20848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ABInitio · ADF · Alteryx · BODS · Datastage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42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Informatica (PC, BDE, Cloud) · Oozie · PentahoDI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9992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ODI · Sqoop · SSIS · SSRS · Talend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554480"/>
            <a:ext cx="3749039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5448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Code &amp; Notebooks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993392"/>
            <a:ext cx="3749039" cy="3017520"/>
          </a:xfrm>
          <a:prstGeom prst="rect">
            <a:avLst/>
          </a:prstGeom>
          <a:solidFill>
            <a:srgbClr val="1E293B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084831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Jupyter Notebooks · PIG · PySpark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25420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SAS · SPSS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621"/>
                </a:solidFill>
                <a:latin typeface="Calibri"/>
              </a:rPr>
              <a:t>What the Analyzer produces: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5321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  ✓  Object inventory — file count, types, line counts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843016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  ✓  Complexity score per technology — Low / Medium / High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15391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  ✓  Migration effort estimate (days) per workload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6480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  ✓  Warnings for unsupported constructs and manual-migration items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775704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  ✓  Downloadable assessment ZIP with full detail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Transpiler — 13 Dialects, 3 Engines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TRANSPILER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Convert source artifacts to PySpark, SparkSQL, or Databricks Workflow JSON — automatically.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274320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581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Lakebridge BladeBridge CLI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65960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10 dialects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40280"/>
            <a:ext cx="27432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DataStage · Informatica · Informatica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MS SQL Server · Netezza · Oracle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31546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Snowflake · SSIS · Synapse · Teradata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4526280"/>
            <a:ext cx="2743200" cy="411480"/>
          </a:xfrm>
          <a:prstGeom prst="rect">
            <a:avLst/>
          </a:prstGeom>
          <a:solidFill>
            <a:srgbClr val="09090E"/>
          </a:solidFill>
          <a:ln w="63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6B6D4"/>
                </a:solidFill>
                <a:latin typeface="Calibri"/>
              </a:rPr>
              <a:t>Output: PySpark or SparkSQL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1554480"/>
            <a:ext cx="27432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1581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Built-in: HiveSQL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965960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dialect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2240280"/>
            <a:ext cx="27432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HiveQL from Cloudera CDH / CDP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sqlglot (read=hive, write=databricks)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31546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Strip Hive-only DDL clauses post-conversion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55848" y="3566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Optional LLM-assisted fix per statement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4526280"/>
            <a:ext cx="2743200" cy="411480"/>
          </a:xfrm>
          <a:prstGeom prst="rect">
            <a:avLst/>
          </a:prstGeom>
          <a:solidFill>
            <a:srgbClr val="09090E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37560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Output: Databricks SQL dialect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1554480"/>
            <a:ext cx="27432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5352" y="1581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Built-in: Oozie 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965960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dialect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240280"/>
            <a:ext cx="27432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workflow.xml + coordinator.xml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lxml XML parser → Jobs API 2.1 JSON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81928" y="31546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Coordinator→workflow linking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81928" y="3566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One-click Databricks Job creation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4526280"/>
            <a:ext cx="2743200" cy="411480"/>
          </a:xfrm>
          <a:prstGeom prst="rect">
            <a:avLst/>
          </a:prstGeom>
          <a:solidFill>
            <a:srgbClr val="09090E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Output: Databricks Workflow JSON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1554480"/>
            <a:ext cx="27432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1432" y="1581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Built-in: SSRS Engine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98280" y="1965960"/>
            <a:ext cx="2743200" cy="2743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9828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1 dialect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98280" y="2240280"/>
            <a:ext cx="2743200" cy="2286000"/>
          </a:xfrm>
          <a:prstGeom prst="rect">
            <a:avLst/>
          </a:prstGeom>
          <a:solidFill>
            <a:srgbClr val="1E293B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08008" y="23317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SQL Server Reporting Services .rdl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08008" y="27432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Extract SQL datasets → .sql notebooks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08008" y="31546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Flag T-SQL patterns → Spark equivalents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08008" y="35661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1F5F9"/>
                </a:solidFill>
                <a:latin typeface="Calibri"/>
              </a:rPr>
              <a:t>Assessment JSON per report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4526280"/>
            <a:ext cx="2743200" cy="411480"/>
          </a:xfrm>
          <a:prstGeom prst="rect">
            <a:avLst/>
          </a:prstGeom>
          <a:solidFill>
            <a:srgbClr val="09090E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89720" y="45445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97706"/>
                </a:solidFill>
                <a:latin typeface="Calibri"/>
              </a:rPr>
              <a:t>Output: SQL Notebooks + Assessment JSON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94A3B8"/>
                </a:solidFill>
                <a:latin typeface="Calibri"/>
              </a:rPr>
              <a:t>All conversions are performed within your Databricks workspace — source code never leaves your environment.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23444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234440"/>
            <a:ext cx="5577840" cy="4572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893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 Warehouse Migration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3621"/>
                </a:solidFill>
                <a:latin typeface="Calibri"/>
              </a:rPr>
              <a:t>SQL Server / Teradata / Oracle → Databricks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Convert T-SQL, BTEQ, PL/SQL stored procedures and 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Migrate SSRS reports to Databricks Dashboards (Lakeview)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79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Migrate SSIS ETL to SparkSQL notebooks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55778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893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Hadoop Modernisation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70992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Cloudera / HDP → Databricks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116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Transpile HiveQL to Databricks SQL dialect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395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Convert Oozie workflows to Databricks Jobs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77977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Migrate Pig Latin scripts with automated mapping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4048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840480"/>
            <a:ext cx="55778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953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ETL Platform Consolidation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159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366F1"/>
                </a:solidFill>
                <a:latin typeface="Calibri"/>
              </a:rPr>
              <a:t>Informatica / DataStage / Talend → Databricks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Convert PowerCenter mappings to PySpark notebooks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01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Assess DataStage job complexity before migration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3858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Generate Databricks Workflow JSON from orchestration logic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84048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840480"/>
            <a:ext cx="55778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8953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Cloud-to-Cloud Migration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315968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Calibri"/>
              </a:rPr>
              <a:t>Snowflake / Synapse / Redshift → Databricks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6177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Transpile modern SQL dialects with high auto-conversion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001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Convert Synapse Pipelines ARM JSON to Databricks Workflows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538581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Preserve CTEs, window functions, and semi-structured types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Architecture — 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621"/>
                </a:solidFill>
                <a:latin typeface="Calibri"/>
              </a:rPr>
              <a:t>End-to-End 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73152" cy="64008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621"/>
                </a:solidFill>
                <a:latin typeface="Calibri"/>
              </a:rPr>
              <a:t>1  Source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Upload directly or browse Databricks workspace via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" y="2194560"/>
            <a:ext cx="9144" cy="182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377440"/>
            <a:ext cx="73152" cy="6400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957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2  Analyzer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lakebridge analyze CLI → complexity report per technology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" y="3017520"/>
            <a:ext cx="9144" cy="182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73152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3  Transpiler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Route to engine: BladeBridge CLI / sqlglot / lxml converters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3776" y="3840480"/>
            <a:ext cx="9144" cy="182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73152" cy="6400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04164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4  Review &amp; 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3159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File tree view, metrics, download ZIP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3776" y="4663440"/>
            <a:ext cx="9144" cy="18288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73152" cy="6400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864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5  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1389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Push output directly to Databricks workspace folder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051560"/>
            <a:ext cx="5577840" cy="5303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11430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621"/>
                </a:solidFill>
                <a:latin typeface="Calibri"/>
              </a:rPr>
              <a:t>Deployment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673352"/>
            <a:ext cx="256032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16367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6B6D4"/>
                </a:solidFill>
                <a:latin typeface="Calibri"/>
              </a:rPr>
              <a:t>Databricks Apps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Single Streamlit app — no VM, no separate server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423160"/>
            <a:ext cx="256032" cy="2560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38658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6366F1"/>
                </a:solidFill>
                <a:latin typeface="Calibri"/>
              </a:rPr>
              <a:t>Lakebridge CLI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6700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Installed in app environment — 10 CLI-backed dialects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172967"/>
            <a:ext cx="256032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66560" y="3136391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D97706"/>
                </a:solidFill>
                <a:latin typeface="Calibri"/>
              </a:rPr>
              <a:t>Custom Engines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3419855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Pure Python modules — HiveSQL, Oozie, SSRS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922776"/>
            <a:ext cx="256032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59669"/>
                </a:solidFill>
                <a:latin typeface="Calibri"/>
              </a:rPr>
              <a:t>Databricks SDK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0" y="416966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Workspace browse, file fetch, artifact upload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672583"/>
            <a:ext cx="256032" cy="256032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66560" y="463600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3621"/>
                </a:solidFill>
                <a:latin typeface="Calibri"/>
              </a:rPr>
              <a:t>Credentials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919471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Databricks host + token via env vars or Settings tab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422392"/>
            <a:ext cx="256032" cy="2560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53858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94A3B8"/>
                </a:solidFill>
                <a:latin typeface="Calibri"/>
              </a:rPr>
              <a:t>Data Residency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669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All conversions in-environment — no external calls except LLM (optional)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SyrenBridge?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VALUE PROP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188720"/>
            <a:ext cx="5577840" cy="4572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252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Built for Databricks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Native Databricks Apps deployment — no external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48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Output targets Databricks SQL dialect — runs on SQL Warehouses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560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Artifacts upload directly to Databricks workspace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971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Databricks Labs Lakebridge at the 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18872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57784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527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Broadest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36 source technologies in Analyzer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48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13 transpiler dialects including 3 custom engines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603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SQL, ETL, Reports, Workflows — all in one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718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SSRS → SQL notebooks — not available in Lakebridge alone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9476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3794760"/>
            <a:ext cx="55778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58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Speed and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43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Complexity analysis in minutes, not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Automated conversion removes 70-90% of manual rewrite effort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166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LLM-assisted fix for complex HiveSQL statements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77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Batch processing — upload a ZIP, get a ZIP 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794760"/>
            <a:ext cx="5577840" cy="2423160"/>
          </a:xfrm>
          <a:prstGeom prst="rect">
            <a:avLst/>
          </a:prstGeom>
          <a:solidFill>
            <a:srgbClr val="1E293B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794760"/>
            <a:ext cx="557784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8587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Enterprise-Ready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434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Deployed within your own Databricks workspace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Credentials never leave your environment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166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LLM integration optional — works fully offline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5778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1F5F9"/>
                </a:solidFill>
                <a:latin typeface="Calibri"/>
              </a:rPr>
              <a:t>✓  Built-in SQL validator with dummy data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SSIS &amp; SSRS — Deep Dive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SPOTLIGHT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5577840" cy="5029200"/>
          </a:xfrm>
          <a:prstGeom prst="rect">
            <a:avLst/>
          </a:prstGeom>
          <a:solidFill>
            <a:srgbClr val="1E293B"/>
          </a:solidFill>
          <a:ln w="101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55778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1521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SSIS  →  SparkSQL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66420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Engine: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16642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Databricks Labs BladeBridge (Lakebridge CLI)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031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Input: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1031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.dtsx, .xml SSIS packages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5420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Output: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5420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SparkSQL notebooks (fixed format)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809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Analyzer: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98094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Registered as source #30 — complexity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4198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Converts: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41985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OLE DB Source/Dest, Derived Column, Cond. Split,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85876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Execute SQL (MERGE), Lookup, Aggregate, 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Manual: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42976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Script Tasks (C#/VB.NET), Custom components,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7365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FTP/SMTP tasks, complex @Variable expressions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097280"/>
            <a:ext cx="5577840" cy="5029200"/>
          </a:xfrm>
          <a:prstGeom prst="rect">
            <a:avLst/>
          </a:prstGeom>
          <a:solidFill>
            <a:srgbClr val="1E293B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097280"/>
            <a:ext cx="557784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1521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SSRS  →  SQL Notebooks +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66420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Engine: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166420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Built-in ssrs_converter (no CLI required)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1031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Input: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21031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.rdl, .rdlc, .rsd reports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54203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Output: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254203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One .sql notebook + _assessment.json per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98094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Auto?: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98094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Yes — if report has Text-query datasets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419856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Not auto?: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341985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Stored procedure / VB.NET code → JSON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385876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Flags: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3858768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GETDATE→current_timestamp, ISNULL→ifnull,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09560" y="429768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TOP N→LIMIT N, DATEADD, CONVERT, NOLOCK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7365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Manual: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09560" y="473659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Stored proc migration, VB.NET UDFs, report layout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7550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Calibri"/>
              </a:rPr>
              <a:t>Layout: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51755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Use Databricks Dashboards / Lakeview for visuals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3621"/>
                </a:solidFill>
                <a:latin typeface="Calibri"/>
              </a:rPr>
              <a:t>SYRENBRIDGE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105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SyrenBridge by Syren Cloud  |  Confidential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Deploy SyrenBridge in your Databricks workspace in under 30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54480"/>
            <a:ext cx="5577840" cy="2194560"/>
          </a:xfrm>
          <a:prstGeom prst="rect">
            <a:avLst/>
          </a:prstGeom>
          <a:solidFill>
            <a:srgbClr val="1E293B"/>
          </a:solidFill>
          <a:ln w="762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554480"/>
            <a:ext cx="109728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18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6276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Calibri"/>
              </a:rPr>
              <a:t>Deploy to Databricks Apps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03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Create a Databricks App pointing to the SyrenBridge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87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Install requirements.txt in the app environment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712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Set DATABRICKS_HOST and DATABRICKS_TOKEN environment variables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577840" cy="2194560"/>
          </a:xfrm>
          <a:prstGeom prst="rect">
            <a:avLst/>
          </a:prstGeom>
          <a:solidFill>
            <a:srgbClr val="1E293B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109728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184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162763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Run Your First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Upload a sample SSIS .dtsx or SQL .sql 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871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Click 'Run Analyzer' on the Analyzer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87121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Review the complexity report and effort estimate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931920"/>
            <a:ext cx="5577840" cy="2194560"/>
          </a:xfrm>
          <a:prstGeom prst="rect">
            <a:avLst/>
          </a:prstGeom>
          <a:solidFill>
            <a:srgbClr val="1E293B"/>
          </a:solidFill>
          <a:ln w="762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931920"/>
            <a:ext cx="1097280" cy="45720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39959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0050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3621"/>
                </a:solidFill>
                <a:latin typeface="Calibri"/>
              </a:rPr>
              <a:t>Run Your First Transpilation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Select your source dialect (e.g., MS SQL Server)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64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Upload source files and click 'Run Transpiler'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2486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Download the generated PySpark or SparkSQL notebooks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931920"/>
            <a:ext cx="5577840" cy="2194560"/>
          </a:xfrm>
          <a:prstGeom prst="rect">
            <a:avLst/>
          </a:prstGeom>
          <a:solidFill>
            <a:srgbClr val="1E293B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931920"/>
            <a:ext cx="1097280" cy="4572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99592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40050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Scale to Production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480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Upload full workload ZIPs for batch conversion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64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Use Databricks workspace browse for direct file access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2486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1F5F9"/>
                </a:solidFill>
                <a:latin typeface="Calibri"/>
              </a:rPr>
              <a:t>• Upload converted artifacts back to workspace for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SYRENBRIDGE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9144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46304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Ready to Accelerate Your
Databricks Migration?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246120"/>
            <a:ext cx="1097280" cy="64008"/>
          </a:xfrm>
          <a:prstGeom prst="rect">
            <a:avLst/>
          </a:prstGeom>
          <a:solidFill>
            <a:srgbClr val="FF3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Calibri"/>
              </a:rPr>
              <a:t>SyrenBridge — 36 source technologies, 13 dialects, deployed in your workspace.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114800"/>
            <a:ext cx="3200400" cy="1097280"/>
          </a:xfrm>
          <a:prstGeom prst="rect">
            <a:avLst/>
          </a:prstGeom>
          <a:solidFill>
            <a:srgbClr val="1E293B"/>
          </a:solidFill>
          <a:ln w="7620">
            <a:solidFill>
              <a:srgbClr val="FF36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062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526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3621"/>
                </a:solidFill>
                <a:latin typeface="Calibri"/>
              </a:rPr>
              <a:t>itsupport@syrencloud.com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4114800"/>
            <a:ext cx="3200400" cy="1097280"/>
          </a:xfrm>
          <a:prstGeom prst="rect">
            <a:avLst/>
          </a:prstGeom>
          <a:solidFill>
            <a:srgbClr val="1E293B"/>
          </a:solidFill>
          <a:ln w="76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42062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Powered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526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Databricks Labs Lakebridge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4114800"/>
            <a:ext cx="3200400" cy="1097280"/>
          </a:xfrm>
          <a:prstGeom prst="rect">
            <a:avLst/>
          </a:prstGeom>
          <a:solidFill>
            <a:srgbClr val="1E293B"/>
          </a:solidFill>
          <a:ln w="762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42062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Deployed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52628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366F1"/>
                </a:solidFill>
                <a:latin typeface="Calibri"/>
              </a:rPr>
              <a:t>Databricks Apps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19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Syren Cloud  | 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