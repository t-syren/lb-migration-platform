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SYRENBRIDGE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7548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AA99"/>
                </a:solidFill>
                <a:latin typeface="Calibri"/>
              </a:rPr>
              <a:t>by Syren Cloud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91440"/>
            <a:ext cx="640080" cy="640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46304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Accelerate Your Migration
to Databricks.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383280"/>
            <a:ext cx="1097280" cy="64008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SyrenBridge automates the conversion of legacy data platforms —
SQL, ETL, reports, and workflows — to Databricks in days, not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480560"/>
            <a:ext cx="2651760" cy="1280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53712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3621"/>
                </a:solidFill>
                <a:latin typeface="Calibri"/>
              </a:rPr>
              <a:t>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Source Technologies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4480560"/>
            <a:ext cx="2651760" cy="1280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4553712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366F1"/>
                </a:solidFill>
                <a:latin typeface="Calibri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Transpiler Dialects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480560"/>
            <a:ext cx="2651760" cy="1280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553712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6B6D4"/>
                </a:solidFill>
                <a:latin typeface="Calibri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5074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Cloud-Native Deployment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1908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Enterprise Migration Platform  ·  Powered by Databricks Labs Lakebridge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Migration Challenge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188720"/>
            <a:ext cx="5486400" cy="2103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188720"/>
            <a:ext cx="10972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Legacy ETL is Expensive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Maintaining SSIS, Informatica, DataStage, and Oozie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pipelines costs 3-5x more than modern Spark-native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331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License costs alone can exceed platform migration costs.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188720"/>
            <a:ext cx="5486400" cy="2103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188720"/>
            <a:ext cx="10972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3258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Manual Migration Takes Years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9164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Typical enterprise DW-to-cloud migration projects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span 18-36 months — mostly hand-rewriting SQL and ETL.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3317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Skill shortages in legacy technologies slow every project.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566160"/>
            <a:ext cx="5486400" cy="2103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566160"/>
            <a:ext cx="10972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7033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Reports &amp; Workflows Left Behind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690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SSRS reports and Oozie workflows are often missed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3891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in migration scopes, creating shadow BI 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091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unsupported orchestration running on old infrastructure.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566160"/>
            <a:ext cx="5486400" cy="210312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566160"/>
            <a:ext cx="109728" cy="21031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37033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Risk of Getting It Wrong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0690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Untested conversions break production pipelines.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3891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Data quality regressions discovered weeks after cutover.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7091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No automated way to validate output correctness.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SyrenBridge — The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1F5F9"/>
                </a:solidFill>
                <a:latin typeface="Calibri"/>
              </a:rPr>
              <a:t>SyrenBridge is an enterprise migration platform built on Databricks Apps that automates assessment, conversion, and validation of legacy data assets — deployed in your Databricks workspace, no additional infrastructure.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20240"/>
            <a:ext cx="2651760" cy="4572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Analyze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77440"/>
            <a:ext cx="2651760" cy="1234440"/>
          </a:xfrm>
          <a:prstGeom prst="rect">
            <a:avLst/>
          </a:prstGeom>
          <a:solidFill>
            <a:srgbClr val="1E293B"/>
          </a:solidFill>
          <a:ln w="762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450592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Complexity scoring for 36 source technologies in minutes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6120" y="1920240"/>
            <a:ext cx="2651760" cy="457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Transpile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2377440"/>
            <a:ext cx="2651760" cy="1234440"/>
          </a:xfrm>
          <a:prstGeom prst="rect">
            <a:avLst/>
          </a:prstGeom>
          <a:solidFill>
            <a:srgbClr val="1E293B"/>
          </a:solidFill>
          <a:ln w="762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2450592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Automated code conversion across 13 dialects to PySpark / SparkSQL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920240"/>
            <a:ext cx="265176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Validate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377440"/>
            <a:ext cx="2651760" cy="1234440"/>
          </a:xfrm>
          <a:prstGeom prst="rect">
            <a:avLst/>
          </a:prstGeom>
          <a:solidFill>
            <a:srgbClr val="1E293B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36208" y="2450592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Built-in SQL validator with dummy data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6840" y="1920240"/>
            <a:ext cx="265176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1920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6840" y="2377440"/>
            <a:ext cx="2651760" cy="1234440"/>
          </a:xfrm>
          <a:prstGeom prst="rect">
            <a:avLst/>
          </a:prstGeom>
          <a:solidFill>
            <a:srgbClr val="1E293B"/>
          </a:solidFill>
          <a:ln w="76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16568" y="2450592"/>
            <a:ext cx="2423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One-click upload of converted artifacts to Databricks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749039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3621"/>
                </a:solidFill>
                <a:latin typeface="Calibri"/>
              </a:rPr>
              <a:t>How it works: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1F5F9"/>
                </a:solidFill>
                <a:latin typeface="Calibri"/>
              </a:rPr>
              <a:t>1  Upload source files or connect to Databricks workspace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445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1F5F9"/>
                </a:solidFill>
                <a:latin typeface="Calibri"/>
              </a:rPr>
              <a:t>2  Run Analyzer — get complexity report and migration readiness score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9286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1F5F9"/>
                </a:solidFill>
                <a:latin typeface="Calibri"/>
              </a:rPr>
              <a:t>3  Select dialect in Transpiler — run automated conversion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31266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1F5F9"/>
                </a:solidFill>
                <a:latin typeface="Calibri"/>
              </a:rPr>
              <a:t>4  Review output, download ZIP or push directly to workspace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69671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1F5F9"/>
                </a:solidFill>
                <a:latin typeface="Calibri"/>
              </a:rPr>
              <a:t>5  Deploy converted notebooks and workflows to production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Analyzer — 36 Source Technologies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ANALYZER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Instantly assess migration complexity across your entire data estate.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554480"/>
            <a:ext cx="3749039" cy="43891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55448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SQL Databases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993392"/>
            <a:ext cx="3749039" cy="3017520"/>
          </a:xfrm>
          <a:prstGeom prst="rect">
            <a:avLst/>
          </a:prstGeom>
          <a:solidFill>
            <a:srgbClr val="1E293B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084831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Athena · BigQuery · Cloudera (Impala) · Greenplum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5420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Hive · IBM DB2 · MS SQL Server · Netezza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999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Oracle · Presto · Redshift · SAP HANA CalcViews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4564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Snowflake · Synapse · Teradata · Vertica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1554480"/>
            <a:ext cx="3749039" cy="43891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155448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ETL &amp; Orchestration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1993392"/>
            <a:ext cx="3749039" cy="301752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2084831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ABInitio · ADF · Alteryx · BODS · Datastage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5420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Informatica (PC, BDE, Cloud) · Oozie · PentahoDI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999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ODI · Sqoop · SSIS · SSRS · Talend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554480"/>
            <a:ext cx="3749039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554480"/>
            <a:ext cx="37490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Code &amp; Notebooks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1993392"/>
            <a:ext cx="3749039" cy="3017520"/>
          </a:xfrm>
          <a:prstGeom prst="rect">
            <a:avLst/>
          </a:prstGeom>
          <a:solidFill>
            <a:srgbClr val="1E293B"/>
          </a:solidFill>
          <a:ln w="63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2084831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Jupyter Notebooks · PIG · PySpark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5420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SAS · SPSS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166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3621"/>
                </a:solidFill>
                <a:latin typeface="Calibri"/>
              </a:rPr>
              <a:t>What the Analyzer produces: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321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  ✓  Object inventory — file count, types, line counts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8430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  ✓  Complexity score per technology — Low / Medium / 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15391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  ✓  Migration effort estimate (days) per workload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6480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  ✓  Warnings for unsupported constructs and manual-migration items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77570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  ✓  Downloadable assessment ZIP with full detail report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Transpiler — 13 Dialects, 3 Engines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TRANSPILER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Convert source artifacts to PySpark, SparkSQL, or Databricks Workflow JSON — automatically.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54480"/>
            <a:ext cx="2743200" cy="41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" y="1581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Lakebridge BladeBridge CLI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965960"/>
            <a:ext cx="2743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1965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10 dialects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240280"/>
            <a:ext cx="2743200" cy="2286000"/>
          </a:xfrm>
          <a:prstGeom prst="rect">
            <a:avLst/>
          </a:prstGeom>
          <a:solidFill>
            <a:srgbClr val="1E293B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8" y="2331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DataStage · Informatica · Informatica Cloud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27432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MS SQL Server · Netezza · Oracle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315467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Snowflake · SSIS · Synapse · Teradata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526280"/>
            <a:ext cx="2743200" cy="411480"/>
          </a:xfrm>
          <a:prstGeom prst="rect">
            <a:avLst/>
          </a:prstGeom>
          <a:solidFill>
            <a:srgbClr val="09090E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54456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6B6D4"/>
                </a:solidFill>
                <a:latin typeface="Calibri"/>
              </a:rPr>
              <a:t>Output: PySpark or SparkSQL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46120" y="155448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9272" y="1581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Built-in: HiveSQL Engine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6120" y="1965960"/>
            <a:ext cx="2743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1965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 dialect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2240280"/>
            <a:ext cx="2743200" cy="228600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2331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HiveQL from Cloudera CDH / CDP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55848" y="27432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sqlglot (read=hive, write=databricks)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315467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Strip Hive-only DDL clauses post-conversion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3566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Optional LLM-assisted fix per statement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526280"/>
            <a:ext cx="2743200" cy="411480"/>
          </a:xfrm>
          <a:prstGeom prst="rect">
            <a:avLst/>
          </a:prstGeom>
          <a:solidFill>
            <a:srgbClr val="09090E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37560" y="454456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Output: Databricks SQL dialect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55448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352" y="1581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Built-in: Oozie Engine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965960"/>
            <a:ext cx="2743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1965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 dialect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2240280"/>
            <a:ext cx="2743200" cy="228600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81928" y="2331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workflow.xml + coordinator.xml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27432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lxml XML parser → Jobs API 2.1 JSON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1928" y="315467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Coordinator→workflow linking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1928" y="3566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One-click Databricks Job creation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4526280"/>
            <a:ext cx="2743200" cy="411480"/>
          </a:xfrm>
          <a:prstGeom prst="rect">
            <a:avLst/>
          </a:prstGeom>
          <a:solidFill>
            <a:srgbClr val="09090E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4456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Output: Databricks Workflow JSON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8280" y="1554480"/>
            <a:ext cx="27432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71432" y="158191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Built-in: SSRS Engine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98280" y="1965960"/>
            <a:ext cx="2743200" cy="2743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8280" y="1965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1 dialect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98280" y="2240280"/>
            <a:ext cx="2743200" cy="228600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08008" y="2331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SQL Server Reporting Services .rdl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08008" y="27432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Extract SQL datasets → .sql notebooks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08008" y="315467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Flag T-SQL patterns → Spark equivalents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08008" y="3566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Assessment JSON per report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4526280"/>
            <a:ext cx="2743200" cy="411480"/>
          </a:xfrm>
          <a:prstGeom prst="rect">
            <a:avLst/>
          </a:prstGeom>
          <a:solidFill>
            <a:srgbClr val="09090E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89720" y="4544568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  <a:latin typeface="Calibri"/>
              </a:rPr>
              <a:t>Output: SQL Notebooks + Assessment JSON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1">
                <a:solidFill>
                  <a:srgbClr val="94A3B8"/>
                </a:solidFill>
                <a:latin typeface="Calibri"/>
              </a:rPr>
              <a:t>All conversions are performed within your Databricks workspace — source code never leaves your environment.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Use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USE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34440"/>
            <a:ext cx="557784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1234440"/>
            <a:ext cx="5577840" cy="4572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2893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Warehouse Migration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709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3621"/>
                </a:solidFill>
                <a:latin typeface="Calibri"/>
              </a:rPr>
              <a:t>SQL Server / Teradata / Oracle → Databricks 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0116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Convert T-SQL, BTEQ, PL/SQL stored procedures and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957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Migrate SSRS reports to Databricks Dashboards (Lakeview)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7977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Migrate SSIS ETL to SparkSQL notebooks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234440"/>
            <a:ext cx="557784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234440"/>
            <a:ext cx="557784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128930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Hadoop Modernisation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70992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Cloudera / HDP → Databricks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0116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Transpile HiveQL to Databricks SQL dialect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3957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Convert Oozie workflows to Databricks Jobs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77977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Migrate Pig Latin scripts with automated mapping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40480"/>
            <a:ext cx="557784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5577840" cy="457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89534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ETL Platform Consolidation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3159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  <a:latin typeface="Calibri"/>
              </a:rPr>
              <a:t>Informatica / DataStage / Talend → Databricks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Convert PowerCenter mappings to PySpark notebooks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0017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Assess DataStage job complexity before migration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8581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Generate Databricks Workflow JSON from orchestration logic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3840480"/>
            <a:ext cx="557784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3840480"/>
            <a:ext cx="557784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80" y="389534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Cloud-to-Cloud Migration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3159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  <a:latin typeface="Calibri"/>
              </a:rPr>
              <a:t>Snowflake / Synapse / Redshift → Databricks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6177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Transpile modern SQL dialects with high auto-conversion 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50017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Convert Synapse Pipelines ARM JSON to Databricks Workflows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385816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Preserve CTEs, window functions, and semi-structured types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Architecture — How SyrenBridge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115568"/>
            <a:ext cx="11338560" cy="411480"/>
          </a:xfrm>
          <a:prstGeom prst="rect">
            <a:avLst/>
          </a:prstGeom>
          <a:solidFill>
            <a:srgbClr val="0F172A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1887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1152144"/>
            <a:ext cx="4480560" cy="338328"/>
          </a:xfrm>
          <a:prstGeom prst="rect">
            <a:avLst/>
          </a:prstGeom>
          <a:solidFill>
            <a:srgbClr val="1E293B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1188720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1F5F9"/>
                </a:solidFill>
                <a:latin typeface="Calibri"/>
              </a:rPr>
              <a:t>📁  File Upload / ZIP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20840" y="1152144"/>
            <a:ext cx="4480560" cy="338328"/>
          </a:xfrm>
          <a:prstGeom prst="rect">
            <a:avLst/>
          </a:prstGeom>
          <a:solidFill>
            <a:srgbClr val="1E293B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0" y="1188720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1F5F9"/>
                </a:solidFill>
                <a:latin typeface="Calibri"/>
              </a:rPr>
              <a:t>☁  Databricks Workspace Browse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53328" y="1527048"/>
            <a:ext cx="73152" cy="1828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1709928"/>
            <a:ext cx="5440680" cy="822960"/>
          </a:xfrm>
          <a:prstGeom prst="rect">
            <a:avLst/>
          </a:prstGeom>
          <a:solidFill>
            <a:srgbClr val="7C100A"/>
          </a:solidFill>
          <a:ln w="762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18013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🔍  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21671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AA99"/>
                </a:solidFill>
                <a:latin typeface="Calibri"/>
              </a:rPr>
              <a:t>lakebridge analyze CLI  ·  36 source technologies  ·  Complexity scoring + effort estimate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709928"/>
            <a:ext cx="5440680" cy="822960"/>
          </a:xfrm>
          <a:prstGeom prst="rect">
            <a:avLst/>
          </a:prstGeom>
          <a:solidFill>
            <a:srgbClr val="2D2F8F"/>
          </a:solidFill>
          <a:ln w="762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1801368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⚡  TRANSPILER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1671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7D2FE"/>
                </a:solidFill>
                <a:latin typeface="Calibri"/>
              </a:rPr>
              <a:t>Dialect routing  ·  13 dialects  ·  3 engine types  ·  Optional LLM fix per statement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13648" y="2532888"/>
            <a:ext cx="73152" cy="1828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" y="2715768"/>
            <a:ext cx="274320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1480" y="2715768"/>
            <a:ext cx="2743200" cy="274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761488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BladeBridge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" y="304495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10 dialects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" y="3209544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DataStage · Informatica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" y="3374136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SQL Server · Teradata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" y="353872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Oracle · Snowflake…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2" y="2715768"/>
            <a:ext cx="274320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73552" y="2715768"/>
            <a:ext cx="2743200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64992" y="2761488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HiveSQL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04495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1 dialect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3209544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sqlglot (hive→databricks)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3374136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Clause stripping +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83280" y="353872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LLM fix (optional)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35624" y="2715768"/>
            <a:ext cx="274320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5624" y="2715768"/>
            <a:ext cx="2743200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27064" y="2761488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Oozie Engine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45352" y="304495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1 dialect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45352" y="3209544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lxml → Jobs API 2.1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2" y="3374136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Coordinator linking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2" y="353872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Fan-in DAG preserved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97696" y="2715768"/>
            <a:ext cx="2743200" cy="96012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97696" y="2715768"/>
            <a:ext cx="2743200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89136" y="2761488"/>
            <a:ext cx="2606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SSRS Engine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7424" y="304495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1 dialect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07424" y="3209544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RDL → SQL Notebooks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07424" y="3374136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+ Assessment JSON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7424" y="353872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1F5F9"/>
                </a:solidFill>
                <a:latin typeface="Calibri"/>
              </a:rPr>
              <a:t>T-SQL pattern flags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53328" y="3675888"/>
            <a:ext cx="73152" cy="18288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11480" y="3858768"/>
            <a:ext cx="11338560" cy="402336"/>
          </a:xfrm>
          <a:prstGeom prst="rect">
            <a:avLst/>
          </a:prstGeom>
          <a:solidFill>
            <a:srgbClr val="035038"/>
          </a:solidFill>
          <a:ln w="63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93192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alibri"/>
              </a:rPr>
              <a:t>OUTPUT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39319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7F3D0"/>
                </a:solidFill>
                <a:latin typeface="Calibri"/>
              </a:rPr>
              <a:t>📥 Download ZIP  ·  ☁ Push to Databricks Workspace  ·  PySpark · SparkSQL · Databricks SQL · Workflow JSON · SQL Notebooks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436168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1">
                <a:solidFill>
                  <a:srgbClr val="94A3B8"/>
                </a:solidFill>
                <a:latin typeface="Calibri"/>
              </a:rPr>
              <a:t>Deployed as Databricks Apps  ·  No external infrastructure  ·  All conversion runs in-environment  ·  Credentials never leave your workspace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End-to-End Process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PROCESS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  <a:latin typeface="Calibri"/>
              </a:rPr>
              <a:t>Complete user journey — from source file upload to converted artifact running on Databricks.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097280"/>
            <a:ext cx="4800600" cy="384048"/>
          </a:xfrm>
          <a:prstGeom prst="rect">
            <a:avLst/>
          </a:prstGeom>
          <a:solidFill>
            <a:srgbClr val="6366F1"/>
          </a:solidFill>
          <a:ln w="762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1152144"/>
            <a:ext cx="4599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👤  User opens SyrenBridge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0468" y="1481328"/>
            <a:ext cx="64008" cy="11887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94560" y="1568196"/>
            <a:ext cx="7726680" cy="6400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62556" y="1600200"/>
            <a:ext cx="64008" cy="9144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89236" y="1600200"/>
            <a:ext cx="64008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1691640"/>
            <a:ext cx="4160520" cy="457200"/>
          </a:xfrm>
          <a:prstGeom prst="rect">
            <a:avLst/>
          </a:prstGeom>
          <a:solidFill>
            <a:srgbClr val="1E293B"/>
          </a:solidFill>
          <a:ln w="762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3959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3621"/>
                </a:solidFill>
                <a:latin typeface="Calibri"/>
              </a:rPr>
              <a:t>📁  Upload Files / ZIP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02536"/>
            <a:ext cx="39593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Local files via browser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1691640"/>
            <a:ext cx="4160520" cy="457200"/>
          </a:xfrm>
          <a:prstGeom prst="rect">
            <a:avLst/>
          </a:prstGeom>
          <a:solidFill>
            <a:srgbClr val="1E293B"/>
          </a:solidFill>
          <a:ln w="76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7768" y="1755648"/>
            <a:ext cx="3959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B6D4"/>
                </a:solidFill>
                <a:latin typeface="Calibri"/>
              </a:rPr>
              <a:t>☁  Browse Databricks Workspace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7768" y="2002536"/>
            <a:ext cx="39593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Fetch via REST API (Databricks SDK)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00884" y="2148840"/>
            <a:ext cx="64008" cy="118872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21724" y="2148840"/>
            <a:ext cx="64008" cy="1188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2888" y="2235708"/>
            <a:ext cx="6720840" cy="6400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0468" y="2267712"/>
            <a:ext cx="64008" cy="1280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0" y="2395728"/>
            <a:ext cx="5715000" cy="420624"/>
          </a:xfrm>
          <a:prstGeom prst="rect">
            <a:avLst/>
          </a:prstGeom>
          <a:solidFill>
            <a:srgbClr val="0F172A"/>
          </a:solidFill>
          <a:ln w="762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0128" y="2459736"/>
            <a:ext cx="5513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⚡  SyrenBridge — Route Request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0128" y="2706624"/>
            <a:ext cx="55138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Streamlit App · Deployed on Databricks Apps · No external infra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0468" y="2816352"/>
            <a:ext cx="64008" cy="10972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06040" y="2894076"/>
            <a:ext cx="6647688" cy="6400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74036" y="2926080"/>
            <a:ext cx="64008" cy="13716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1724" y="2926080"/>
            <a:ext cx="64008" cy="13716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063240"/>
            <a:ext cx="4297680" cy="329184"/>
          </a:xfrm>
          <a:prstGeom prst="rect">
            <a:avLst/>
          </a:prstGeom>
          <a:solidFill>
            <a:srgbClr val="7C100A"/>
          </a:solidFill>
          <a:ln w="762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3090672"/>
            <a:ext cx="4096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🔍  ANALYZE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60" y="3063240"/>
            <a:ext cx="4983480" cy="329184"/>
          </a:xfrm>
          <a:prstGeom prst="rect">
            <a:avLst/>
          </a:prstGeom>
          <a:solidFill>
            <a:srgbClr val="2D2F8F"/>
          </a:solidFill>
          <a:ln w="762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76288" y="3090672"/>
            <a:ext cx="4782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⚡  TRANSPILE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74036" y="3392424"/>
            <a:ext cx="64008" cy="100584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21724" y="3392424"/>
            <a:ext cx="64008" cy="1005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493008"/>
            <a:ext cx="4297680" cy="1097280"/>
          </a:xfrm>
          <a:prstGeom prst="rect">
            <a:avLst/>
          </a:prstGeom>
          <a:solidFill>
            <a:srgbClr val="1E293B"/>
          </a:solidFill>
          <a:ln w="635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593592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  ▸  lakebridge analyze CLI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3831336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  ▸  36 source technologies profiled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069080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  ▸  Complexity score + effort estimate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4306824"/>
            <a:ext cx="39776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  ▸  Downloadable assessment ZIP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66560" y="3493008"/>
            <a:ext cx="1115568" cy="1097280"/>
          </a:xfrm>
          <a:prstGeom prst="rect">
            <a:avLst/>
          </a:prstGeom>
          <a:solidFill>
            <a:srgbClr val="1E293B"/>
          </a:solidFill>
          <a:ln w="63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66560" y="3493008"/>
            <a:ext cx="1115568" cy="23774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12280" y="3520440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BladeBridge CLI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3785615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10 dialects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4334256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06B6D4"/>
                </a:solidFill>
                <a:latin typeface="Calibri"/>
              </a:rPr>
              <a:t>→ Artifacts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91856" y="3493008"/>
            <a:ext cx="1115568" cy="109728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91856" y="3493008"/>
            <a:ext cx="1115568" cy="2377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037576" y="3520440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HiveSQL Engine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37576" y="3785615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sqlglot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37576" y="4334256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97706"/>
                </a:solidFill>
                <a:latin typeface="Calibri"/>
              </a:rPr>
              <a:t>→ Artifacts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17152" y="3493008"/>
            <a:ext cx="1115568" cy="109728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217152" y="3493008"/>
            <a:ext cx="1115568" cy="2377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62872" y="3520440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Oozie Engine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2872" y="3785615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lxml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2872" y="4334256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97706"/>
                </a:solidFill>
                <a:latin typeface="Calibri"/>
              </a:rPr>
              <a:t>→ Artifacts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42448" y="3493008"/>
            <a:ext cx="1115568" cy="1097280"/>
          </a:xfrm>
          <a:prstGeom prst="rect">
            <a:avLst/>
          </a:prstGeom>
          <a:solidFill>
            <a:srgbClr val="1E293B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442448" y="3493008"/>
            <a:ext cx="1115568" cy="23774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88168" y="3520440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SSRS Engine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785615"/>
            <a:ext cx="10241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4A3B8"/>
                </a:solidFill>
                <a:latin typeface="Calibri"/>
              </a:rPr>
              <a:t>built-in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88168" y="4334256"/>
            <a:ext cx="10241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97706"/>
                </a:solidFill>
                <a:latin typeface="Calibri"/>
              </a:rPr>
              <a:t>→ Artifacts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74036" y="4590288"/>
            <a:ext cx="64008" cy="73152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221724" y="4590288"/>
            <a:ext cx="64008" cy="7315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606040" y="4631436"/>
            <a:ext cx="6647688" cy="6400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30468" y="4663440"/>
            <a:ext cx="64008" cy="10972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926080" y="4773168"/>
            <a:ext cx="6263640" cy="420624"/>
          </a:xfrm>
          <a:prstGeom prst="rect">
            <a:avLst/>
          </a:prstGeom>
          <a:solidFill>
            <a:srgbClr val="0F172A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35808" y="4846320"/>
            <a:ext cx="6062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📊  Results ready — file tree · metrics · preview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30468" y="5193792"/>
            <a:ext cx="64008" cy="11887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43200" y="5280660"/>
            <a:ext cx="6629400" cy="6400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11196" y="5312664"/>
            <a:ext cx="64008" cy="1005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340596" y="5312664"/>
            <a:ext cx="64008" cy="10058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7200" y="5413248"/>
            <a:ext cx="4480560" cy="420624"/>
          </a:xfrm>
          <a:prstGeom prst="rect">
            <a:avLst/>
          </a:prstGeom>
          <a:solidFill>
            <a:srgbClr val="1E293B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5477256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59669"/>
                </a:solidFill>
                <a:latin typeface="Calibri"/>
              </a:rPr>
              <a:t>📥  Download ZIP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5724144"/>
            <a:ext cx="42793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Converted notebooks / JSONs / SQL files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26480" y="5413248"/>
            <a:ext cx="5120640" cy="420624"/>
          </a:xfrm>
          <a:prstGeom prst="rect">
            <a:avLst/>
          </a:prstGeom>
          <a:solidFill>
            <a:srgbClr val="1E293B"/>
          </a:solidFill>
          <a:ln w="76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36208" y="5477256"/>
            <a:ext cx="49194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B6D4"/>
                </a:solidFill>
                <a:latin typeface="Calibri"/>
              </a:rPr>
              <a:t>☁  Upload to Databricks Workspace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36208" y="5724144"/>
            <a:ext cx="4919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4A3B8"/>
                </a:solidFill>
                <a:latin typeface="Calibri"/>
              </a:rPr>
              <a:t>Push artifacts via REST API — no manual copy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11196" y="5833872"/>
            <a:ext cx="64008" cy="1280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654796" y="5833872"/>
            <a:ext cx="64008" cy="12801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743200" y="5929884"/>
            <a:ext cx="5943600" cy="6400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30468" y="5961888"/>
            <a:ext cx="64008" cy="914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200400" y="6053328"/>
            <a:ext cx="5715000" cy="347472"/>
          </a:xfrm>
          <a:prstGeom prst="rect">
            <a:avLst/>
          </a:prstGeom>
          <a:solidFill>
            <a:srgbClr val="035038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10128" y="6089904"/>
            <a:ext cx="5513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✅  Converted artifacts ready to run on Databricks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Example Flow: HiveQL → Databricks 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DEEP DIVE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Inside the custom HiveSQL engine — converting a Cloudera table definition to Databricks SQL dialect.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481328"/>
            <a:ext cx="64008" cy="475488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" y="15087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1  Upload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175564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.hql / .sql file via browser or Databricks workspace browse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" y="1956816"/>
            <a:ext cx="18288" cy="1371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093976"/>
            <a:ext cx="64008" cy="4754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" y="212140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2  Pre-process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36829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Strip comments · detect STORED AS · ROW FORMAT · SERDE · TBLPROPERTIES · LOCATION hdfs://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" y="2569464"/>
            <a:ext cx="18288" cy="1371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2706624"/>
            <a:ext cx="64008" cy="4754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" y="273405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3  Split Statements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298094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Line-aware splitter preserves CREATE TABLE … AS SELECT boundaries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" y="3182112"/>
            <a:ext cx="18288" cy="1371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3319272"/>
            <a:ext cx="64008" cy="4754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4" y="334670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4  sqlglot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59359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transpile(read='hive', write='databricks') applied per statement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" y="3794760"/>
            <a:ext cx="18288" cy="1371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931920"/>
            <a:ext cx="64008" cy="47548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" y="39593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366F1"/>
                </a:solidFill>
                <a:latin typeface="Calibri"/>
              </a:rPr>
              <a:t>5  Post-process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" y="4206240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Regex rules strip surviving Hive DDL · normalise whitespace · fix LIMIT / ORDER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" y="4407408"/>
            <a:ext cx="18288" cy="1371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4544568"/>
            <a:ext cx="64008" cy="4754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4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  <a:latin typeface="Calibri"/>
              </a:rPr>
              <a:t>6  Issue Tagging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" y="48188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Flag constructs needing manual review → attach warning metadata to 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" y="5020056"/>
            <a:ext cx="18288" cy="13716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5157216"/>
            <a:ext cx="64008" cy="4754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1846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Calibri"/>
              </a:rPr>
              <a:t>7  LLM Fix (optional)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" y="543153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Per-statement Claude/GPT fix for flagged issues — skipped if LLM not configured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60720" y="1417320"/>
            <a:ext cx="6035040" cy="2331720"/>
          </a:xfrm>
          <a:prstGeom prst="rect">
            <a:avLst/>
          </a:prstGeom>
          <a:solidFill>
            <a:srgbClr val="151007"/>
          </a:solidFill>
          <a:ln w="63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97880" y="148132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BEFORE — HiveQL input (Cloudera CDH)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97880" y="176479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CREATE TABLE sales_agg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97880" y="194767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STORED AS ORC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97880" y="213055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ROW FORMAT SERDE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231343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  'org.apache.hive.serde2.lazy.LazySimpleSerDe'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97880" y="249631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TBLPROPERTIES ('orc.compress'='SNAPPY')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2679191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LOCATION 'hdfs:///data/sales'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97880" y="286207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AS SELECT region, SUM(amount) total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304495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FROM raw.transactions WHERE dt='2024-01'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97880" y="3227832"/>
            <a:ext cx="5760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BBF24"/>
                </a:solidFill>
                <a:latin typeface="Courier New"/>
              </a:rPr>
              <a:t>GROUP BY region;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60720" y="3840480"/>
            <a:ext cx="6035040" cy="1828800"/>
          </a:xfrm>
          <a:prstGeom prst="rect">
            <a:avLst/>
          </a:prstGeom>
          <a:solidFill>
            <a:srgbClr val="032A20"/>
          </a:solidFill>
          <a:ln w="63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7880" y="3904487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AFTER — Databricks SQL output (auto-converted)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4187952"/>
            <a:ext cx="5760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E7B7"/>
                </a:solidFill>
                <a:latin typeface="Courier New"/>
              </a:rPr>
              <a:t>CREATE TABLE sales_agg AS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398264"/>
            <a:ext cx="5760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E7B7"/>
                </a:solidFill>
                <a:latin typeface="Courier New"/>
              </a:rPr>
              <a:t>SELECT region, SUM(amount) total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97880" y="4608576"/>
            <a:ext cx="5760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E7B7"/>
                </a:solidFill>
                <a:latin typeface="Courier New"/>
              </a:rPr>
              <a:t>FROM raw.transactions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97880" y="4818888"/>
            <a:ext cx="5760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E7B7"/>
                </a:solidFill>
                <a:latin typeface="Courier New"/>
              </a:rPr>
              <a:t>WHERE dt = '2024-01'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7880" y="5029200"/>
            <a:ext cx="576072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EE7B7"/>
                </a:solidFill>
                <a:latin typeface="Courier New"/>
              </a:rPr>
              <a:t>GROUP BY region;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80" y="5321808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✓  STORED AS ORC, ROW FORMAT SERDE, TBLPROPERTIES, LOCATION hdfs:// — all removed automatically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Migration Impact — By the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Outcomes delivered by SyrenBridge-powered Databricks migration programs.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11880" cy="2103120"/>
          </a:xfrm>
          <a:prstGeom prst="rect">
            <a:avLst/>
          </a:prstGeom>
          <a:solidFill>
            <a:srgbClr val="1E293B"/>
          </a:solidFill>
          <a:ln w="1016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444752"/>
            <a:ext cx="3611880" cy="64008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57276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3621"/>
                </a:solidFill>
                <a:latin typeface="Calibri"/>
              </a:rPr>
              <a:t>70–90%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04872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F5F9"/>
                </a:solidFill>
                <a:latin typeface="Calibri"/>
              </a:rPr>
              <a:t>Reduction in manual
rewrite effort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1444752"/>
            <a:ext cx="3611880" cy="2103120"/>
          </a:xfrm>
          <a:prstGeom prst="rect">
            <a:avLst/>
          </a:prstGeom>
          <a:solidFill>
            <a:srgbClr val="1E293B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97680" y="1444752"/>
            <a:ext cx="3611880" cy="6400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157276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6B6D4"/>
                </a:solidFill>
                <a:latin typeface="Calibri"/>
              </a:rPr>
              <a:t>Months→Weeks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404872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F5F9"/>
                </a:solidFill>
                <a:latin typeface="Calibri"/>
              </a:rPr>
              <a:t>Enterprise migration timeline
compressed end-to-end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444752"/>
            <a:ext cx="3611880" cy="2103120"/>
          </a:xfrm>
          <a:prstGeom prst="rect">
            <a:avLst/>
          </a:prstGeom>
          <a:solidFill>
            <a:srgbClr val="1E293B"/>
          </a:solidFill>
          <a:ln w="1016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444752"/>
            <a:ext cx="3611880" cy="6400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57276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6366F1"/>
                </a:solidFill>
                <a:latin typeface="Calibri"/>
              </a:rPr>
              <a:t>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404872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F5F9"/>
                </a:solidFill>
                <a:latin typeface="Calibri"/>
              </a:rPr>
              <a:t>Source technologies assessed
in minutes, not weeks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730752"/>
            <a:ext cx="3611880" cy="2103120"/>
          </a:xfrm>
          <a:prstGeom prst="rect">
            <a:avLst/>
          </a:prstGeom>
          <a:solidFill>
            <a:srgbClr val="1E293B"/>
          </a:solidFill>
          <a:ln w="1016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730752"/>
            <a:ext cx="3611880" cy="640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85876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59669"/>
                </a:solidFill>
                <a:latin typeface="Calibri"/>
              </a:rPr>
              <a:t>3–5×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690872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F5F9"/>
                </a:solidFill>
                <a:latin typeface="Calibri"/>
              </a:rPr>
              <a:t>Cost reduction vs. maintaining
legacy ETL platform licenses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3730752"/>
            <a:ext cx="3611880" cy="2103120"/>
          </a:xfrm>
          <a:prstGeom prst="rect">
            <a:avLst/>
          </a:prstGeom>
          <a:solidFill>
            <a:srgbClr val="1E293B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730752"/>
            <a:ext cx="361188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385876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D97706"/>
                </a:solidFill>
                <a:latin typeface="Calibri"/>
              </a:rPr>
              <a:t>30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690872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F5F9"/>
                </a:solidFill>
                <a:latin typeface="Calibri"/>
              </a:rPr>
              <a:t>Deploy SyrenBridge in your
Databricks workspace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730752"/>
            <a:ext cx="3611880" cy="2103120"/>
          </a:xfrm>
          <a:prstGeom prst="rect">
            <a:avLst/>
          </a:prstGeom>
          <a:solidFill>
            <a:srgbClr val="1E293B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3730752"/>
            <a:ext cx="3611880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60" y="3858768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13 dialects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690872"/>
            <a:ext cx="33832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F5F9"/>
                </a:solidFill>
                <a:latin typeface="Calibri"/>
              </a:rPr>
              <a:t>SQL · ETL · Workflows · Reports
covered in one platform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SyrenBridge Wins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BATTLE CARDS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4A3B8"/>
                </a:solidFill>
                <a:latin typeface="Calibri"/>
              </a:rPr>
              <a:t>How SyrenBridge compares to every other option in the Databricks migration ecosystem.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417320"/>
            <a:ext cx="544068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417320"/>
            <a:ext cx="5440680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4721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vs. Lakebridge (Free Open-Source CLI)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18288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CLI only — no UI, no workspace browser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22219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No Oozie → Databricks Jobs conversion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26151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No HiveSQL Cloudera-specific clause stripping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3008376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No SSRS report migration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7812" y="18288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Full Streamlit UI — self-serve for any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7812" y="22219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Custom Oozie engine: full Jobs API 2.1 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7812" y="26151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HiveSQL engine: sqlglot + Cloudera clause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7812" y="3008376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Built-in SSRS converter (RDL → SQL Notebooks)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417320"/>
            <a:ext cx="544068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1417320"/>
            <a:ext cx="5440680" cy="34747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4721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vs. LeapLogic (Brickbuilder Partner)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18288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Oozie: 'assessment only' — no output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22219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Enterprise SI engagement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6151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Black-box pricing, long onboarding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3008376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No SSRS migration documented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1412" y="18288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Oozie: full Jobs API 2.1 JSON + coordinator linking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1412" y="22219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Self-serve — deploy in your workspace in 30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1412" y="26151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Built on open-source Lakebridge — transparent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1412" y="3008376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SSRS → SQL Notebooks included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995928"/>
            <a:ext cx="544068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3995928"/>
            <a:ext cx="5440680" cy="34747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0507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vs. AWS SCT &amp; Cloud-Native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9768" y="440740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AWS SCT: Oozie → Step Functions (AWS-only)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48006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No Databricks-native SQL dialect 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" y="51937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Platform lock-in (AWS / Azure / GCP specific)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55869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No SSRS, no Informatica / DataStage migration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7812" y="440740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Databricks-first — output runs on SQL Warehouses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7812" y="48006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Works on AWS, Azure, and GCP Databricks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67812" y="51937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Oozie → Databricks Jobs (not Step Functions)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7812" y="55869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Full ETL + SQL + Workflows + Reports in one tool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995928"/>
            <a:ext cx="5440680" cy="2423160"/>
          </a:xfrm>
          <a:prstGeom prst="rect">
            <a:avLst/>
          </a:prstGeom>
          <a:solidFill>
            <a:srgbClr val="1E293B"/>
          </a:solidFill>
          <a:ln w="1016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3995928"/>
            <a:ext cx="5440680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405079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vs. Manual Migration / DIY Teams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3368" y="440740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300–400 lines/day manual throughput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3368" y="48006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18–36 month typical enterprise project timeline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73368" y="51937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High risk of untested conversion regressions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3368" y="55869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✗  Requires rare Hive / Oozie specialist skills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11412" y="4407408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70–90% of rewrite effort automated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11412" y="4800600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Weeks not months — same output, fraction of time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11412" y="5193792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Built-in SQL validator with dummy data generation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11412" y="5586984"/>
            <a:ext cx="25831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6EFAC"/>
                </a:solidFill>
                <a:latin typeface="Calibri"/>
              </a:rPr>
              <a:t>✓  No specialist skills needed — works from a browser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SSIS &amp; SSRS — Deep Dive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SPOTLIGHT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097280"/>
            <a:ext cx="5577840" cy="5029200"/>
          </a:xfrm>
          <a:prstGeom prst="rect">
            <a:avLst/>
          </a:prstGeom>
          <a:solidFill>
            <a:srgbClr val="1E293B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097280"/>
            <a:ext cx="557784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15214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SSIS  →  SparkSQL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642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Engine: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66420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Databricks Labs BladeBridge (Lakebridge CLI)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0312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Input: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10312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.dtsx, .xml SSIS packages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4203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Output: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54203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SparkSQL notebooks (fixed format)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98094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Analyzer: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2980944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Registered as source #30 — complexity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41985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Converts: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419856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OLE DB Source/Dest, Derived Column, Cond. Split,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858768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Execute SQL (MERGE), Lookup, Aggregate, Sort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B6D4"/>
                </a:solidFill>
                <a:latin typeface="Calibri"/>
              </a:rPr>
              <a:t>Manual: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9768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Script Tasks (C#/VB.NET), Custom components,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736592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FTP/SMTP tasks, complex @Variable expressions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097280"/>
            <a:ext cx="5577840" cy="5029200"/>
          </a:xfrm>
          <a:prstGeom prst="rect">
            <a:avLst/>
          </a:prstGeom>
          <a:solidFill>
            <a:srgbClr val="1E293B"/>
          </a:solidFill>
          <a:ln w="1016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1097280"/>
            <a:ext cx="5577840" cy="457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15214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SSRS  →  SQL Notebooks + 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66420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Engine: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9560" y="166420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Built-in ssrs_converter (no CLI required)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1031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Input: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21031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.rdl, .rdlc, .rsd reports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54203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Output: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54203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One .sql notebook + _assessment.json per 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298094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Auto?: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09560" y="298094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Yes — if report has Text-query datasets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41985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Not auto?: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3419856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Stored procedure / VB.NET code → JSON only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85876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Flags: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09560" y="385876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GETDATE→current_timestamp, ISNULL→ifnull,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09560" y="42976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TOP N→LIMIT N, DATEADD, CONVERT, NOLOCK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473659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Manual: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09560" y="4736592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Stored proc migration, VB.NET UDFs, report layout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517550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  <a:latin typeface="Calibri"/>
              </a:rPr>
              <a:t>Layout: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5175504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Use Databricks Dashboards / Lakeview for visuals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0116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3621"/>
                </a:solidFill>
                <a:latin typeface="Calibri"/>
              </a:rPr>
              <a:t>SYRENBRIDGE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Getting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73952"/>
            <a:ext cx="12188952" cy="38404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10528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SyrenBridge by Syren Cloud  |  Confidential  |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4A3B8"/>
                </a:solidFill>
                <a:latin typeface="Calibri"/>
              </a:rPr>
              <a:t>Deploy SyrenBridge in your Databricks workspace in under 30 minutes.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554480"/>
            <a:ext cx="5577840" cy="2194560"/>
          </a:xfrm>
          <a:prstGeom prst="rect">
            <a:avLst/>
          </a:prstGeom>
          <a:solidFill>
            <a:srgbClr val="1E293B"/>
          </a:solidFill>
          <a:ln w="762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554480"/>
            <a:ext cx="1097280" cy="457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61848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162763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59669"/>
                </a:solidFill>
                <a:latin typeface="Calibri"/>
              </a:rPr>
              <a:t>Deploy to Databricks Apps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1031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Create a Databricks App pointing to the SyrenBridge repo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4871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Install requirements.txt in the app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87121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Set DATABRICKS_HOST and DATABRICKS_TOKEN environment variables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554480"/>
            <a:ext cx="5577840" cy="2194560"/>
          </a:xfrm>
          <a:prstGeom prst="rect">
            <a:avLst/>
          </a:prstGeom>
          <a:solidFill>
            <a:srgbClr val="1E293B"/>
          </a:solidFill>
          <a:ln w="76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554480"/>
            <a:ext cx="1097280" cy="4572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161848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62763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Run Your First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10312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Upload a sample SSIS .dtsx or SQL .sql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4871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Click 'Run Analyzer' on the Analyzer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7121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Review the complexity report and effort estimate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931920"/>
            <a:ext cx="5577840" cy="2194560"/>
          </a:xfrm>
          <a:prstGeom prst="rect">
            <a:avLst/>
          </a:prstGeom>
          <a:solidFill>
            <a:srgbClr val="1E293B"/>
          </a:solidFill>
          <a:ln w="762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931920"/>
            <a:ext cx="1097280" cy="45720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959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00507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621"/>
                </a:solidFill>
                <a:latin typeface="Calibri"/>
              </a:rPr>
              <a:t>Run Your First Transpilation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4805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Select your source dialect (e.g., MS SQL Server)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8646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Upload source files and click 'Run Transpiler'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2486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Download the generated PySpark or SparkSQL notebooks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931920"/>
            <a:ext cx="5577840" cy="2194560"/>
          </a:xfrm>
          <a:prstGeom prst="rect">
            <a:avLst/>
          </a:prstGeom>
          <a:solidFill>
            <a:srgbClr val="1E293B"/>
          </a:solidFill>
          <a:ln w="762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3931920"/>
            <a:ext cx="1097280" cy="4572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399592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366F1"/>
                </a:solidFill>
                <a:latin typeface="Calibri"/>
              </a:rPr>
              <a:t>Scale to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48056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Upload full workload ZIPs for batch conversion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646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Use Databricks workspace browse for direct file access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2486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• Upload converted artifacts back to workspace for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SYRENBRIDGE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91440"/>
            <a:ext cx="640080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46304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Ready to Accelerate Your
Databricks Migration?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46120"/>
            <a:ext cx="1097280" cy="64008"/>
          </a:xfrm>
          <a:prstGeom prst="rect">
            <a:avLst/>
          </a:prstGeom>
          <a:solidFill>
            <a:srgbClr val="FF3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SyrenBridge — 36 source technologies, 13 dialects, deployed in your workspace.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114800"/>
            <a:ext cx="3200400" cy="1097280"/>
          </a:xfrm>
          <a:prstGeom prst="rect">
            <a:avLst/>
          </a:prstGeom>
          <a:solidFill>
            <a:srgbClr val="1E293B"/>
          </a:solidFill>
          <a:ln w="7620">
            <a:solidFill>
              <a:srgbClr val="FF36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3621"/>
                </a:solidFill>
                <a:latin typeface="Calibri"/>
              </a:rPr>
              <a:t>itsupport@syrencloud.com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4114800"/>
            <a:ext cx="3200400" cy="1097280"/>
          </a:xfrm>
          <a:prstGeom prst="rect">
            <a:avLst/>
          </a:prstGeom>
          <a:solidFill>
            <a:srgbClr val="1E293B"/>
          </a:solidFill>
          <a:ln w="762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42062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Powered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5262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B6D4"/>
                </a:solidFill>
                <a:latin typeface="Calibri"/>
              </a:rPr>
              <a:t>Databricks Labs Lakebridge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114800"/>
            <a:ext cx="3200400" cy="1097280"/>
          </a:xfrm>
          <a:prstGeom prst="rect">
            <a:avLst/>
          </a:prstGeom>
          <a:solidFill>
            <a:srgbClr val="1E293B"/>
          </a:solidFill>
          <a:ln w="762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420624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Deployed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45262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366F1"/>
                </a:solidFill>
                <a:latin typeface="Calibri"/>
              </a:rPr>
              <a:t>Databricks Apps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1908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4A3B8"/>
                </a:solidFill>
                <a:latin typeface="Calibri"/>
              </a:rPr>
              <a:t>Syren Cloud  |  2026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